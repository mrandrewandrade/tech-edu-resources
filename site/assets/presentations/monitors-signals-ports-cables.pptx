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de13de47c34bcc" /><Relationship Type="http://schemas.openxmlformats.org/officeDocument/2006/relationships/extended-properties" Target="/docProps/app.xml" Id="R39ca370a5e1249fa" /><Relationship Type="http://schemas.openxmlformats.org/officeDocument/2006/relationships/officeDocument" Target="/ppt/presentation.xml" Id="Ra93ef843c91347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e8c72805b5458b"/>
  </p:sldMasterIdLst>
  <p:notesMasterIdLst>
    <p:notesMasterId xmlns:r="http://schemas.openxmlformats.org/officeDocument/2006/relationships" r:id="R5863d465f80b4f28"/>
  </p:notesMasterIdLst>
  <p:sldIdLst>
    <p:sldId xmlns:r="http://schemas.openxmlformats.org/officeDocument/2006/relationships" id="256" r:id="Ra0cb6a14353d421a"/>
    <p:sldId xmlns:r="http://schemas.openxmlformats.org/officeDocument/2006/relationships" id="257" r:id="R046ec0e5329d41d6"/>
    <p:sldId xmlns:r="http://schemas.openxmlformats.org/officeDocument/2006/relationships" id="258" r:id="R46633f5772e5405e"/>
    <p:sldId xmlns:r="http://schemas.openxmlformats.org/officeDocument/2006/relationships" id="259" r:id="R04461951f0834cab"/>
    <p:sldId xmlns:r="http://schemas.openxmlformats.org/officeDocument/2006/relationships" id="260" r:id="Rdf4d801f06f645ed"/>
    <p:sldId xmlns:r="http://schemas.openxmlformats.org/officeDocument/2006/relationships" id="261" r:id="Rc94f36550bd24c20"/>
    <p:sldId xmlns:r="http://schemas.openxmlformats.org/officeDocument/2006/relationships" id="262" r:id="R93bd5a9ffc224efb"/>
    <p:sldId xmlns:r="http://schemas.openxmlformats.org/officeDocument/2006/relationships" id="263" r:id="Rb3c4749eb2d34535"/>
    <p:sldId xmlns:r="http://schemas.openxmlformats.org/officeDocument/2006/relationships" id="264" r:id="R6741856cc22249ba"/>
    <p:sldId xmlns:r="http://schemas.openxmlformats.org/officeDocument/2006/relationships" id="265" r:id="Rf6542e241d6b404d"/>
    <p:sldId xmlns:r="http://schemas.openxmlformats.org/officeDocument/2006/relationships" id="266" r:id="R643b02c6239e41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edb8cd386e431e" /><Relationship Type="http://schemas.openxmlformats.org/officeDocument/2006/relationships/slideMaster" Target="/ppt/slideMasters/slideMaster1.xml" Id="R28e8c72805b5458b" /><Relationship Type="http://schemas.openxmlformats.org/officeDocument/2006/relationships/notesMaster" Target="/ppt/notesMasters/notesMaster1.xml" Id="R5863d465f80b4f28" /><Relationship Type="http://schemas.openxmlformats.org/officeDocument/2006/relationships/presProps" Target="/ppt/presProps.xml" Id="R7046c03d50f54ca8" /><Relationship Type="http://schemas.openxmlformats.org/officeDocument/2006/relationships/tableStyles" Target="/ppt/tableStyles.xml" Id="Rbe71afa1682647a4" /><Relationship Type="http://schemas.openxmlformats.org/officeDocument/2006/relationships/slide" Target="/ppt/slides/slide1.xml" Id="Ra0cb6a14353d421a" /><Relationship Type="http://schemas.openxmlformats.org/officeDocument/2006/relationships/slide" Target="/ppt/slides/slide2.xml" Id="R046ec0e5329d41d6" /><Relationship Type="http://schemas.openxmlformats.org/officeDocument/2006/relationships/slide" Target="/ppt/slides/slide3.xml" Id="R46633f5772e5405e" /><Relationship Type="http://schemas.openxmlformats.org/officeDocument/2006/relationships/slide" Target="/ppt/slides/slide4.xml" Id="R04461951f0834cab" /><Relationship Type="http://schemas.openxmlformats.org/officeDocument/2006/relationships/slide" Target="/ppt/slides/slide5.xml" Id="Rdf4d801f06f645ed" /><Relationship Type="http://schemas.openxmlformats.org/officeDocument/2006/relationships/slide" Target="/ppt/slides/slide6.xml" Id="Rc94f36550bd24c20" /><Relationship Type="http://schemas.openxmlformats.org/officeDocument/2006/relationships/slide" Target="/ppt/slides/slide7.xml" Id="R93bd5a9ffc224efb" /><Relationship Type="http://schemas.openxmlformats.org/officeDocument/2006/relationships/slide" Target="/ppt/slides/slide8.xml" Id="Rb3c4749eb2d34535" /><Relationship Type="http://schemas.openxmlformats.org/officeDocument/2006/relationships/slide" Target="/ppt/slides/slide9.xml" Id="R6741856cc22249ba" /><Relationship Type="http://schemas.openxmlformats.org/officeDocument/2006/relationships/slide" Target="/ppt/slides/slide10.xml" Id="Rf6542e241d6b404d" /><Relationship Type="http://schemas.openxmlformats.org/officeDocument/2006/relationships/slide" Target="/ppt/slides/slide11.xml" Id="R643b02c6239e41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34604c0be844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869821c3d9429f" /><Relationship Type="http://schemas.openxmlformats.org/officeDocument/2006/relationships/notesMaster" Target="/ppt/notesMasters/notesMaster1.xml" Id="R5d64e1f8e90f44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fb4a19e977464c" /><Relationship Type="http://schemas.openxmlformats.org/officeDocument/2006/relationships/notesMaster" Target="/ppt/notesMasters/notesMaster1.xml" Id="R6396504f89db4e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9db42dd8834a31" /><Relationship Type="http://schemas.openxmlformats.org/officeDocument/2006/relationships/notesMaster" Target="/ppt/notesMasters/notesMaster1.xml" Id="R49ab4f8bfce840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f1365e5afc4b1e" /><Relationship Type="http://schemas.openxmlformats.org/officeDocument/2006/relationships/notesMaster" Target="/ppt/notesMasters/notesMaster1.xml" Id="R58ac6b8bc54c44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ae122efc7540ca" /><Relationship Type="http://schemas.openxmlformats.org/officeDocument/2006/relationships/notesMaster" Target="/ppt/notesMasters/notesMaster1.xml" Id="Rdfb8e9416ff44e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63e083f25c4ee1" /><Relationship Type="http://schemas.openxmlformats.org/officeDocument/2006/relationships/notesMaster" Target="/ppt/notesMasters/notesMaster1.xml" Id="Rc6f4e4e12ce240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47ed9ca73f4baa" /><Relationship Type="http://schemas.openxmlformats.org/officeDocument/2006/relationships/notesMaster" Target="/ppt/notesMasters/notesMaster1.xml" Id="Rc5db0edda4d743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a7c994b8d84a94" /><Relationship Type="http://schemas.openxmlformats.org/officeDocument/2006/relationships/notesMaster" Target="/ppt/notesMasters/notesMaster1.xml" Id="Rc6791c92c2c148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b208deb4c1448f" /><Relationship Type="http://schemas.openxmlformats.org/officeDocument/2006/relationships/notesMaster" Target="/ppt/notesMasters/notesMaster1.xml" Id="Rdf2a655aa65c41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7795ea153c4973" /><Relationship Type="http://schemas.openxmlformats.org/officeDocument/2006/relationships/notesMaster" Target="/ppt/notesMasters/notesMaster1.xml" Id="R1cf0325f7e2d46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8050203bad4621" /><Relationship Type="http://schemas.openxmlformats.org/officeDocument/2006/relationships/notesMaster" Target="/ppt/notesMasters/notesMaster1.xml" Id="R36d3244b2bfe4c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asking students which connectors they already recognize.</a:t>
            </a:r>
          </a:p>
          <a:p xmlns:a="http://schemas.openxmlformats.org/drawingml/2006/main">
            <a:r>
              <a:t>Image sources and licences:</a:t>
            </a:r>
          </a:p>
          <a:p xmlns:a="http://schemas.openxmlformats.org/drawingml/2006/main">
            <a:r>
              <a:t>https://commons.wikimedia.org/wiki/File:GPU_Interface.jpg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that monitor power and the picture signal are separate connections.</a:t>
            </a:r>
          </a:p>
          <a:p xmlns:a="http://schemas.openxmlformats.org/drawingml/2006/main">
            <a:r>
              <a:t>Image sources and licences:</a:t>
            </a:r>
          </a:p>
          <a:p xmlns:a="http://schemas.openxmlformats.org/drawingml/2006/main">
            <a:r>
              <a:t>https://commons.wikimedia.org/wiki/File:Computer_monitor.jpg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grey curve for the continuous source and the red points for discrete samples. Keep the explanation at recognition level.</a:t>
            </a:r>
          </a:p>
          <a:p xmlns:a="http://schemas.openxmlformats.org/drawingml/2006/main">
            <a:r>
              <a:t>Image sources and licences:</a:t>
            </a:r>
          </a:p>
          <a:p xmlns:a="http://schemas.openxmlformats.org/drawingml/2006/main">
            <a:r>
              <a:t>https://commons.wikimedia.org/wiki/File:Digital.signal.discret.svg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identify the 15-pin pattern and the two thumb screws before connecting it.</a:t>
            </a:r>
          </a:p>
          <a:p xmlns:a="http://schemas.openxmlformats.org/drawingml/2006/main">
            <a:r>
              <a:t>Image sources and licences:</a:t>
            </a:r>
          </a:p>
          <a:p xmlns:a="http://schemas.openxmlformats.org/drawingml/2006/main">
            <a:r>
              <a:t>https://commons.wikimedia.org/wiki/File:Vga-cable.jpg</a:t>
            </a:r>
          </a:p>
          <a:p xmlns:a="http://schemas.openxmlformats.org/drawingml/2006/main">
            <a:r>
              <a:t>https://commons.wikimedia.org/wiki/File:VGA_port.jpg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flat blade and surrounding pins. Different DVI versions have different pin patterns.</a:t>
            </a:r>
          </a:p>
          <a:p xmlns:a="http://schemas.openxmlformats.org/drawingml/2006/main">
            <a:r>
              <a:t>Image sources and licences:</a:t>
            </a:r>
          </a:p>
          <a:p xmlns:a="http://schemas.openxmlformats.org/drawingml/2006/main">
            <a:r>
              <a:t>https://commons.wikimedia.org/wiki/File:Dvi-cable.jpg</a:t>
            </a:r>
          </a:p>
          <a:p xmlns:a="http://schemas.openxmlformats.org/drawingml/2006/main">
            <a:r>
              <a:t>https://commons.wikimedia.org/wiki/File:Computer_DVI_connector.jpg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tapered connector shape and explain that HDMI usually carries both picture and sound.</a:t>
            </a:r>
          </a:p>
          <a:p xmlns:a="http://schemas.openxmlformats.org/drawingml/2006/main">
            <a:r>
              <a:t>Image sources and licences:</a:t>
            </a:r>
          </a:p>
          <a:p xmlns:a="http://schemas.openxmlformats.org/drawingml/2006/main">
            <a:r>
              <a:t>https://commons.wikimedia.org/wiki/File:HDMI-Connector.jpg</a:t>
            </a:r>
          </a:p>
          <a:p xmlns:a="http://schemas.openxmlformats.org/drawingml/2006/main">
            <a:r>
              <a:t>https://commons.wikimedia.org/wiki/File:HDMI_connector_female.jpg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full-size clipped corner with the smaller Mini DisplayPort connector. The Thunderbolt symbol changes the capability, not the shape.</a:t>
            </a:r>
          </a:p>
          <a:p xmlns:a="http://schemas.openxmlformats.org/drawingml/2006/main">
            <a:r>
              <a:t>Image sources and licences:</a:t>
            </a:r>
          </a:p>
          <a:p xmlns:a="http://schemas.openxmlformats.org/drawingml/2006/main">
            <a:r>
              <a:t>https://commons.wikimedia.org/wiki/File:DisplayPort-rid.jpg</a:t>
            </a:r>
          </a:p>
          <a:p xmlns:a="http://schemas.openxmlformats.org/drawingml/2006/main">
            <a:r>
              <a:t>https://commons.wikimedia.org/wiki/File:DisplayPort_on_a_computer.jpg</a:t>
            </a:r>
          </a:p>
          <a:p xmlns:a="http://schemas.openxmlformats.org/drawingml/2006/main">
            <a:r>
              <a:t>https://commons.wikimedia.org/wiki/File:Mini_displayport.jpg</a:t>
            </a:r>
          </a:p>
          <a:p xmlns:a="http://schemas.openxmlformats.org/drawingml/2006/main">
            <a:r>
              <a:t>https://commons.wikimedia.org/wiki/File:Mini_DisplayPort_on_Apple_MacBook.jpg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reversible shape does not guarantee DisplayPort Alt Mode, USB4, Thunderbolt, charging power, or data speed.</a:t>
            </a:r>
          </a:p>
          <a:p xmlns:a="http://schemas.openxmlformats.org/drawingml/2006/main">
            <a:r>
              <a:t>Image sources and licences:</a:t>
            </a:r>
          </a:p>
          <a:p xmlns:a="http://schemas.openxmlformats.org/drawingml/2006/main">
            <a:r>
              <a:t>https://commons.wikimedia.org/wiki/File:USB_Type-C.jpg</a:t>
            </a:r>
          </a:p>
          <a:p xmlns:a="http://schemas.openxmlformats.org/drawingml/2006/main">
            <a:r>
              <a:t>https://commons.wikimedia.org/wiki/File:OnePlus_3_USB_port_and_the_cable.jpg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not assume that a cable supports video because one end is USB-C. Read the device and cable specifications.</a:t>
            </a:r>
          </a:p>
          <a:p xmlns:a="http://schemas.openxmlformats.org/drawingml/2006/main">
            <a:r>
              <a:t>Image sources and licences:</a:t>
            </a:r>
          </a:p>
          <a:p xmlns:a="http://schemas.openxmlformats.org/drawingml/2006/main">
            <a:r>
              <a:t>https://commons.wikimedia.org/wiki/File:USB_3.1_Gen2_Typ-C_to_Typ-A_cable_10Gbps_PD_60W.jpg</a:t>
            </a:r>
          </a:p>
          <a:p xmlns:a="http://schemas.openxmlformats.org/drawingml/2006/main">
            <a:r>
              <a:t>https://commons.wikimedia.org/wiki/File:USB4_Type-C_Gen3x2_Bi-Directional_Cable_40Gbps_8K60Hz_100W_PowerDelivery.jpg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FireWire appears on older computers and media equipment. Do not confuse it with a display connector.</a:t>
            </a:r>
          </a:p>
          <a:p xmlns:a="http://schemas.openxmlformats.org/drawingml/2006/main">
            <a:r>
              <a:t>Image sources and licences:</a:t>
            </a:r>
          </a:p>
          <a:p xmlns:a="http://schemas.openxmlformats.org/drawingml/2006/main">
            <a:r>
              <a:t>https://commons.wikimedia.org/wiki/File:FireWire_cables.jpg</a:t>
            </a:r>
          </a:p>
          <a:p xmlns:a="http://schemas.openxmlformats.org/drawingml/2006/main">
            <a:r>
              <a:t>https://commons.wikimedia.org/wiki/File:FireWire-PCI-Card.jpg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full connection sequence with a classroom computer and monitor before students try it.</a:t>
            </a:r>
          </a:p>
          <a:p xmlns:a="http://schemas.openxmlformats.org/drawingml/2006/main">
            <a:r>
              <a:t>Image sources and licences:</a:t>
            </a:r>
          </a:p>
          <a:p xmlns:a="http://schemas.openxmlformats.org/drawingml/2006/main">
            <a:r>
              <a:t>https://commons.wikimedia.org/wiki/File:Computer_ports.JPG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9368c059d04a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ad347505544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19167478f41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62f548192249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4ae01b03ed4b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eb58bfab14c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80AACC-DD65-4EBD-9278-5AA3A8A649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F0AD68-ED97-4471-B984-41DE1691CD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039B1BF-6FBA-4071-8CAB-DCC06FF446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361C90-0158-4096-97E9-2A2F52F6F3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065B76-4C67-4A54-932F-8C24441539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9B2403-2E39-4F8D-99D5-DE508C59D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6E6BBB-5FD1-4A3B-8863-9FDC2FDECC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B5CF176-7633-4AA7-92FA-B331403196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A44BB6-ACB3-482C-9A1A-FFB8A444CF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74B148-CD28-48B7-BE6A-8B21DFE084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8864239563483b" /><Relationship Type="http://schemas.openxmlformats.org/officeDocument/2006/relationships/slideLayout" Target="/ppt/slideLayouts/slideLayout1.xml" Id="R64828e97418d45e8" /><Relationship Type="http://schemas.openxmlformats.org/officeDocument/2006/relationships/slideLayout" Target="/ppt/slideLayouts/slideLayout2.xml" Id="R47ddff3a34e045a2" /><Relationship Type="http://schemas.openxmlformats.org/officeDocument/2006/relationships/slideLayout" Target="/ppt/slideLayouts/slideLayout3.xml" Id="Rdbf4c8ebb4474047" /><Relationship Type="http://schemas.openxmlformats.org/officeDocument/2006/relationships/slideLayout" Target="/ppt/slideLayouts/slideLayout4.xml" Id="R00c238425f0045eb" /><Relationship Type="http://schemas.openxmlformats.org/officeDocument/2006/relationships/slideLayout" Target="/ppt/slideLayouts/slideLayout5.xml" Id="R67e547da22e2411b" /><Relationship Type="http://schemas.openxmlformats.org/officeDocument/2006/relationships/slideLayout" Target="/ppt/slideLayouts/slideLayout6.xml" Id="R459089340bde4e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828e97418d45e8"/>
    <p:sldLayoutId xmlns:r="http://schemas.openxmlformats.org/officeDocument/2006/relationships" id="2147483650" r:id="R47ddff3a34e045a2"/>
    <p:sldLayoutId xmlns:r="http://schemas.openxmlformats.org/officeDocument/2006/relationships" id="2147483651" r:id="Rdbf4c8ebb4474047"/>
    <p:sldLayoutId xmlns:r="http://schemas.openxmlformats.org/officeDocument/2006/relationships" id="2147483652" r:id="R00c238425f0045eb"/>
    <p:sldLayoutId xmlns:r="http://schemas.openxmlformats.org/officeDocument/2006/relationships" id="2147483653" r:id="R67e547da22e2411b"/>
    <p:sldLayoutId xmlns:r="http://schemas.openxmlformats.org/officeDocument/2006/relationships" id="2147483654" r:id="R459089340bde4e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a9aee080c84443" /><Relationship Type="http://schemas.openxmlformats.org/officeDocument/2006/relationships/image" Target="/ppt/media/image.jpeg" Id="R42fc3a1c24cd4f2b" /><Relationship Type="http://schemas.openxmlformats.org/officeDocument/2006/relationships/notesSlide" Target="/ppt/notesSlides/notesSlide1.xml" Id="R3e779da2e6374b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bc4e1f2aad4181" /><Relationship Type="http://schemas.openxmlformats.org/officeDocument/2006/relationships/image" Target="/ppt/media/image2.jpeg" Id="Redbbf725b22940ab" /><Relationship Type="http://schemas.openxmlformats.org/officeDocument/2006/relationships/notesSlide" Target="/ppt/notesSlides/notesSlide2.xml" Id="R7533e611e5ed4c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b94b0de3534c2c" /><Relationship Type="http://schemas.openxmlformats.org/officeDocument/2006/relationships/image" Target="/ppt/media/image.png" Id="R7f563b2a0c934afa" /><Relationship Type="http://schemas.openxmlformats.org/officeDocument/2006/relationships/notesSlide" Target="/ppt/notesSlides/notesSlide3.xml" Id="R018d74a8d01846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e0482770a54c68" /><Relationship Type="http://schemas.openxmlformats.org/officeDocument/2006/relationships/image" Target="/ppt/media/image3.jpeg" Id="R7c158cf689084bdf" /><Relationship Type="http://schemas.openxmlformats.org/officeDocument/2006/relationships/image" Target="/ppt/media/image4.jpeg" Id="Re0b81e0ed4964ab6" /><Relationship Type="http://schemas.openxmlformats.org/officeDocument/2006/relationships/notesSlide" Target="/ppt/notesSlides/notesSlide4.xml" Id="Rf8a33b895d4941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5aa094d210469e" /><Relationship Type="http://schemas.openxmlformats.org/officeDocument/2006/relationships/image" Target="/ppt/media/image5.jpeg" Id="R30b957d6cc2c47a0" /><Relationship Type="http://schemas.openxmlformats.org/officeDocument/2006/relationships/image" Target="/ppt/media/image6.jpeg" Id="R7be0f9248a534557" /><Relationship Type="http://schemas.openxmlformats.org/officeDocument/2006/relationships/notesSlide" Target="/ppt/notesSlides/notesSlide5.xml" Id="R6be7c122f53d42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71e2c5739b4abe" /><Relationship Type="http://schemas.openxmlformats.org/officeDocument/2006/relationships/image" Target="/ppt/media/image7.jpeg" Id="R94d1a952f2e54ca7" /><Relationship Type="http://schemas.openxmlformats.org/officeDocument/2006/relationships/image" Target="/ppt/media/image8.jpeg" Id="R7f86ab27a6f04400" /><Relationship Type="http://schemas.openxmlformats.org/officeDocument/2006/relationships/notesSlide" Target="/ppt/notesSlides/notesSlide6.xml" Id="R1b6ab23c09f746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1e6d7f217d4388" /><Relationship Type="http://schemas.openxmlformats.org/officeDocument/2006/relationships/image" Target="/ppt/media/image9.jpeg" Id="R23bf9b8ecaad438e" /><Relationship Type="http://schemas.openxmlformats.org/officeDocument/2006/relationships/image" Target="/ppt/media/image10.jpeg" Id="R211e442d9b384543" /><Relationship Type="http://schemas.openxmlformats.org/officeDocument/2006/relationships/image" Target="/ppt/media/image11.jpeg" Id="R6f608d8a3a0e427b" /><Relationship Type="http://schemas.openxmlformats.org/officeDocument/2006/relationships/image" Target="/ppt/media/image12.jpeg" Id="R260d3fd1186a45f0" /><Relationship Type="http://schemas.openxmlformats.org/officeDocument/2006/relationships/notesSlide" Target="/ppt/notesSlides/notesSlide7.xml" Id="Rd9092d1f7a5340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866154d88243ec" /><Relationship Type="http://schemas.openxmlformats.org/officeDocument/2006/relationships/image" Target="/ppt/media/image13.jpeg" Id="R6d5080ab32fa4c4b" /><Relationship Type="http://schemas.openxmlformats.org/officeDocument/2006/relationships/image" Target="/ppt/media/image14.jpeg" Id="R7d793c39f9df4c81" /><Relationship Type="http://schemas.openxmlformats.org/officeDocument/2006/relationships/notesSlide" Target="/ppt/notesSlides/notesSlide8.xml" Id="R3bd7464e385146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e7dd15908a4f45" /><Relationship Type="http://schemas.openxmlformats.org/officeDocument/2006/relationships/image" Target="/ppt/media/image15.jpeg" Id="R9fdbcf6bffb64f55" /><Relationship Type="http://schemas.openxmlformats.org/officeDocument/2006/relationships/image" Target="/ppt/media/image16.jpeg" Id="R3f05a82170fc43d6" /><Relationship Type="http://schemas.openxmlformats.org/officeDocument/2006/relationships/notesSlide" Target="/ppt/notesSlides/notesSlide9.xml" Id="R6101d26e69c740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b7cc9d385b4206" /><Relationship Type="http://schemas.openxmlformats.org/officeDocument/2006/relationships/image" Target="/ppt/media/image17.jpeg" Id="R7d7b422d802a4082" /><Relationship Type="http://schemas.openxmlformats.org/officeDocument/2006/relationships/image" Target="/ppt/media/image18.jpeg" Id="R224a793ae4604be0" /><Relationship Type="http://schemas.openxmlformats.org/officeDocument/2006/relationships/notesSlide" Target="/ppt/notesSlides/notesSlide10.xml" Id="R62c1bd79547f40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9aabe752c84e3a" /><Relationship Type="http://schemas.openxmlformats.org/officeDocument/2006/relationships/image" Target="/ppt/media/image19.jpeg" Id="Rb83f27ef4b124ef1" /><Relationship Type="http://schemas.openxmlformats.org/officeDocument/2006/relationships/notesSlide" Target="/ppt/notesSlides/notesSlide11.xml" Id="Rc7ddde02587547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20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9FC21-72C9-4F10-8CCC-489EFFBA3E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c3a1c24cd4f2b"/>
          <a:srcRect xmlns:a="http://schemas.openxmlformats.org/drawingml/2006/main" l="31652" t="0" r="316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6477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24ABE-2A37-4AC7-B503-C2060FD6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38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9D250-97F8-4EB6-AB0B-2BA00E78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7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4C083-7577-4CDF-9205-F0BFACC4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095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8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Monitors, Signals, Ports, and Cables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E35E0-8E38-4488-A289-0AD78140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0">
                <a:solidFill>
                  <a:srgbClr val="F3E8D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3E8D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3E8DC"/>
                </a:solidFill>
                <a:latin typeface="Arial"/>
                <a:ea typeface="Arial"/>
                <a:cs typeface="Arial"/>
              </a:rPr>
              <a:t>Recognize the port. Match the cable. Check the signal.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6701C-CB09-4D11-AC80-1B1BAB00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C7652"/>
                </a:solidFill>
                <a:latin typeface="Arial"/>
                <a:ea typeface="Arial"/>
                <a:cs typeface="Arial"/>
              </a:rPr>
              <a:t>Computer Systems</a:t>
            </a:r>
          </a:p>
        </p:txBody>
      </p:sp>
    </p:spTree>
    <p:extLst>
      <p:ext uri="{BB962C8B-B14F-4D97-AF65-F5344CB8AC3E}">
        <p14:creationId xmlns:p14="http://schemas.microsoft.com/office/powerpoint/2010/main" val="324544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8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07B5A-1573-4139-80CC-AA1E40FA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7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E4551-FB38-4ADD-B1CD-38EEE562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What a monitor does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8856A-290B-4583-BEDB-508DBE94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9415F"/>
                </a:solidFill>
                <a:latin typeface="Arial"/>
                <a:ea typeface="Arial"/>
                <a:cs typeface="Arial"/>
              </a:rPr>
              <a:t>A monitor displays the picture produced by the computer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47B57-DCAF-4CDE-945E-47E78934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9F412-32BA-4997-A2B0-75B805E5F8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bf725b22940ab"/>
          <a:stretch xmlns:a="http://schemas.openxmlformats.org/drawingml/2006/main"/>
        </p:blipFill>
        <p:spPr>
          <a:xfrm xmlns:a="http://schemas.openxmlformats.org/drawingml/2006/main">
            <a:off x="1016677" y="1809750"/>
            <a:ext cx="3719747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70CD2-3416-48DB-B3AB-7B343D9E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562ED-5E51-4DF5-B304-AB07C149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383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Power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2EAF2-AE3F-4E5C-B2C1-AF823229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52700"/>
            <a:ext cx="481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415F"/>
                </a:solidFill>
                <a:latin typeface="Arial"/>
                <a:ea typeface="Arial"/>
                <a:cs typeface="Arial"/>
              </a:rPr>
              <a:t>The monitor plugs into electrical power and turns on separately from the computer.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06FB6-0644-4530-9AB0-3AB82F2A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Picture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8C800-3C77-44C6-933C-D6199567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29100"/>
            <a:ext cx="481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415F"/>
                </a:solidFill>
                <a:latin typeface="Arial"/>
                <a:ea typeface="Arial"/>
                <a:cs typeface="Arial"/>
              </a:rPr>
              <a:t>A video cable carries the computer's display signal to a matching monitor input.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7738B-B7C7-4910-B23A-2C38B9B1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2925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9156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9156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15634"/>
                </a:solidFill>
                <a:latin typeface="Arial"/>
                <a:ea typeface="Arial"/>
                <a:cs typeface="Arial"/>
              </a:rPr>
              <a:t>The selected monitor input must match the connected cable.</a:t>
            </a:r>
          </a:p>
        </p:txBody>
      </p:sp>
    </p:spTree>
    <p:extLst>
      <p:ext uri="{BB962C8B-B14F-4D97-AF65-F5344CB8AC3E}">
        <p14:creationId xmlns:p14="http://schemas.microsoft.com/office/powerpoint/2010/main" val="101108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018DB-4951-4685-AF2A-72A4783C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7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E6452-AB50-4A2F-A18E-B2F7121E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Analog and digital in three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52DA2-7D37-4797-ACA1-A806E158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9415F"/>
                </a:solidFill>
                <a:latin typeface="Arial"/>
                <a:ea typeface="Arial"/>
                <a:cs typeface="Arial"/>
              </a:rPr>
              <a:t>The diagram shows one way a continuous signal becomes digital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E3C46-A4E0-4B57-AA74-2B1DB6B0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D9F6F-2409-4AE5-A9CC-94C96F60B4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63b2a0c934afa"/>
          <a:stretch xmlns:a="http://schemas.openxmlformats.org/drawingml/2006/main"/>
        </p:blipFill>
        <p:spPr>
          <a:xfrm xmlns:a="http://schemas.openxmlformats.org/drawingml/2006/main">
            <a:off x="3779108" y="1752600"/>
            <a:ext cx="4633784" cy="2857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D9A40-0485-4ECB-A01D-61D541C3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C765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1AD49-798B-470E-80BC-6993B5E5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01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Continuous waveform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559DB-F937-480D-BC05-DB03C732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292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9415F"/>
                </a:solidFill>
                <a:latin typeface="Arial"/>
                <a:ea typeface="Arial"/>
                <a:cs typeface="Arial"/>
              </a:rPr>
              <a:t>The analog value can change at any moment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6B0EA-B61C-4350-8EB9-F52FD8E2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387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C765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5AF2D-793E-49E7-8ADC-4492D234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101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Sample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C0562-867A-4777-95F8-81716BE7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4292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9415F"/>
                </a:solidFill>
                <a:latin typeface="Arial"/>
                <a:ea typeface="Arial"/>
                <a:cs typeface="Arial"/>
              </a:rPr>
              <a:t>Measure the waveform at set intervals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70204-96EC-4679-9E40-5EE72889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387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C765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DD45D-B78F-4754-A04E-88A9B916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101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Digital values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79FF6-8B7D-4B12-A131-9613B016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4292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9415F"/>
                </a:solidFill>
                <a:latin typeface="Arial"/>
                <a:ea typeface="Arial"/>
                <a:cs typeface="Arial"/>
              </a:rPr>
              <a:t>Store each sample as a number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BE8C6-F95C-4745-AF92-77EFD7E1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75" b="1">
                <a:solidFill>
                  <a:srgbClr val="3D5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D5F8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5F87"/>
                </a:solidFill>
                <a:latin typeface="Arial"/>
                <a:ea typeface="Arial"/>
                <a:cs typeface="Arial"/>
              </a:rPr>
              <a:t>VGA carries analog video. HDMI and DisplayPort carry digital video.</a:t>
            </a:r>
          </a:p>
        </p:txBody>
      </p:sp>
    </p:spTree>
    <p:extLst>
      <p:ext uri="{BB962C8B-B14F-4D97-AF65-F5344CB8AC3E}">
        <p14:creationId xmlns:p14="http://schemas.microsoft.com/office/powerpoint/2010/main" val="19921010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8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6A720-6C13-4441-B506-B3CC4BE0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7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77788-9E50-43CB-BB86-0750A2CE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VGA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08335-9787-47AF-B762-FE3A89A0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9415F"/>
                </a:solidFill>
                <a:latin typeface="Arial"/>
                <a:ea typeface="Arial"/>
                <a:cs typeface="Arial"/>
              </a:rPr>
              <a:t>Analog video connection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DA3DC-E4A3-475A-AF5B-25870DC9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406F8-DDEC-4233-B3AC-06FDDB92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C7652"/>
                </a:solidFill>
                <a:latin typeface="Arial"/>
                <a:ea typeface="Arial"/>
                <a:cs typeface="Arial"/>
              </a:rPr>
              <a:t>CABLE PLUG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0802D-1A88-48FD-BAE5-EA904ECD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95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3D5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D5F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5F87"/>
                </a:solidFill>
                <a:latin typeface="Arial"/>
                <a:ea typeface="Arial"/>
                <a:cs typeface="Arial"/>
              </a:rPr>
              <a:t>PORT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A9710-41D4-4C71-AF7A-84390C95DB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58cf689084bdf"/>
          <a:stretch xmlns:a="http://schemas.openxmlformats.org/drawingml/2006/main"/>
        </p:blipFill>
        <p:spPr>
          <a:xfrm xmlns:a="http://schemas.openxmlformats.org/drawingml/2006/main">
            <a:off x="912185" y="2038350"/>
            <a:ext cx="4385930" cy="31432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C4A03-60BE-48DC-BD8A-9B04613A78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81e0ed4964ab6"/>
          <a:stretch xmlns:a="http://schemas.openxmlformats.org/drawingml/2006/main"/>
        </p:blipFill>
        <p:spPr>
          <a:xfrm xmlns:a="http://schemas.openxmlformats.org/drawingml/2006/main">
            <a:off x="6991350" y="2038350"/>
            <a:ext cx="4191000" cy="3143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9B1C0-60D0-4396-969B-CB31930D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8859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7C936-55A7-4642-B1F2-BFA99DD0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7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5C6C4-BC3B-458D-9D80-7DBB126F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934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Usually video only. Tighten the two thumb screws gently.</a:t>
            </a:r>
          </a:p>
        </p:txBody>
      </p:sp>
    </p:spTree>
    <p:extLst>
      <p:ext uri="{BB962C8B-B14F-4D97-AF65-F5344CB8AC3E}">
        <p14:creationId xmlns:p14="http://schemas.microsoft.com/office/powerpoint/2010/main" val="8588294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F110C-4936-489C-9E4F-51841FD0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7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644B4-C699-4036-81EA-A0E41E36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DVI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1AC86-8E94-4334-9273-893174A5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9415F"/>
                </a:solidFill>
                <a:latin typeface="Arial"/>
                <a:ea typeface="Arial"/>
                <a:cs typeface="Arial"/>
              </a:rPr>
              <a:t>Check the pin pattern before connecting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6E056-1F0B-4B36-B96C-1C5B00FB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6551E-8FE6-42F8-A8E0-1783C8F4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C7652"/>
                </a:solidFill>
                <a:latin typeface="Arial"/>
                <a:ea typeface="Arial"/>
                <a:cs typeface="Arial"/>
              </a:rPr>
              <a:t>CABLE PLUG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73E4F-4FF3-4ABE-8E38-014572B8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95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3D5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D5F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5F87"/>
                </a:solidFill>
                <a:latin typeface="Arial"/>
                <a:ea typeface="Arial"/>
                <a:cs typeface="Arial"/>
              </a:rPr>
              <a:t>PORT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6DF71-FE6B-4E81-B09F-216829A405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957d6cc2c47a0"/>
          <a:stretch xmlns:a="http://schemas.openxmlformats.org/drawingml/2006/main"/>
        </p:blipFill>
        <p:spPr>
          <a:xfrm xmlns:a="http://schemas.openxmlformats.org/drawingml/2006/main">
            <a:off x="1140619" y="2038350"/>
            <a:ext cx="3929063" cy="31432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320BF-431C-4F27-B8F2-99F51B40CD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0f9248a534557"/>
          <a:stretch xmlns:a="http://schemas.openxmlformats.org/drawingml/2006/main"/>
        </p:blipFill>
        <p:spPr>
          <a:xfrm xmlns:a="http://schemas.openxmlformats.org/drawingml/2006/main">
            <a:off x="8406983" y="2038350"/>
            <a:ext cx="1359734" cy="3143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C25C0-1FDA-451F-8E75-98585FDE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8859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2B409-A389-4E7A-BEEE-AC66F734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7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72D68-EC7E-49EE-872A-C13DD17C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934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DVI-D is digital. DVI-A is analog. DVI-I supports both.</a:t>
            </a:r>
          </a:p>
        </p:txBody>
      </p:sp>
    </p:spTree>
    <p:extLst>
      <p:ext uri="{BB962C8B-B14F-4D97-AF65-F5344CB8AC3E}">
        <p14:creationId xmlns:p14="http://schemas.microsoft.com/office/powerpoint/2010/main" val="1504708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8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27B41-7D52-41C3-8CA0-D035B4E1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7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F25A3-53B5-4886-AAF5-BFD27AC0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HDMI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7006C-AA63-4CBE-9D70-D9091C1D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9415F"/>
                </a:solidFill>
                <a:latin typeface="Arial"/>
                <a:ea typeface="Arial"/>
                <a:cs typeface="Arial"/>
              </a:rPr>
              <a:t>Digital video and audio in one cable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C0BB8-15AB-47CD-AB94-F7832081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9E4F9-3C2A-4504-A34E-6DE64582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C7652"/>
                </a:solidFill>
                <a:latin typeface="Arial"/>
                <a:ea typeface="Arial"/>
                <a:cs typeface="Arial"/>
              </a:rPr>
              <a:t>CABLE PLUG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62918-374C-4189-A7B4-B4FC60AA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95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3D5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D5F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5F87"/>
                </a:solidFill>
                <a:latin typeface="Arial"/>
                <a:ea typeface="Arial"/>
                <a:cs typeface="Arial"/>
              </a:rPr>
              <a:t>PORT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DDA7A-D504-4952-AAA2-2BE6663C62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1a952f2e54ca7"/>
          <a:stretch xmlns:a="http://schemas.openxmlformats.org/drawingml/2006/main"/>
        </p:blipFill>
        <p:spPr>
          <a:xfrm xmlns:a="http://schemas.openxmlformats.org/drawingml/2006/main">
            <a:off x="1009650" y="2038350"/>
            <a:ext cx="4191000" cy="31432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52FB3-EFCF-4046-A47A-09AAFB907C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6ab27a6f04400"/>
          <a:stretch xmlns:a="http://schemas.openxmlformats.org/drawingml/2006/main"/>
        </p:blipFill>
        <p:spPr>
          <a:xfrm xmlns:a="http://schemas.openxmlformats.org/drawingml/2006/main">
            <a:off x="7515225" y="2038350"/>
            <a:ext cx="3143250" cy="3143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ED182-3B68-4943-8AAC-FDC115C5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8859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9FA6D-2D28-4B18-A1E6-64728337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7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C271E-4499-405C-9CE6-1803E149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934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Common on monitors, televisions, laptops, and game consoles.</a:t>
            </a:r>
          </a:p>
        </p:txBody>
      </p:sp>
    </p:spTree>
    <p:extLst>
      <p:ext uri="{BB962C8B-B14F-4D97-AF65-F5344CB8AC3E}">
        <p14:creationId xmlns:p14="http://schemas.microsoft.com/office/powerpoint/2010/main" val="1432157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EC9EB-2124-4374-B10C-9D122A51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7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C86B1-23DE-43F6-931C-D914FF7A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DisplayPort and Mini DisplayPort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4EE43-FD1E-4D6D-851E-EEFD5F9E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9415F"/>
                </a:solidFill>
                <a:latin typeface="Arial"/>
                <a:ea typeface="Arial"/>
                <a:cs typeface="Arial"/>
              </a:rPr>
              <a:t>Both carry digital video and audio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C7640-F58A-488E-897B-12C7729C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D4DF2-FAD2-4D58-96E8-39369667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3D5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D5F8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5F87"/>
                </a:solidFill>
                <a:latin typeface="Arial"/>
                <a:ea typeface="Arial"/>
                <a:cs typeface="Arial"/>
              </a:rPr>
              <a:t>DISPLAYPORT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D69AE-1A1C-4456-A23C-F145703678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f9b8ecaad438e"/>
          <a:stretch xmlns:a="http://schemas.openxmlformats.org/drawingml/2006/main"/>
        </p:blipFill>
        <p:spPr>
          <a:xfrm xmlns:a="http://schemas.openxmlformats.org/drawingml/2006/main">
            <a:off x="628650" y="2343852"/>
            <a:ext cx="2476500" cy="184644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997A3-1CC1-4D3D-8C9E-C96EFF2EE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e442d9b384543"/>
          <a:stretch xmlns:a="http://schemas.openxmlformats.org/drawingml/2006/main"/>
        </p:blipFill>
        <p:spPr>
          <a:xfrm xmlns:a="http://schemas.openxmlformats.org/drawingml/2006/main">
            <a:off x="3379937" y="2076450"/>
            <a:ext cx="2307925" cy="2381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FB2D2-0A53-4167-8FF6-9770EBE8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75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One clipped corner identifies the full-size connector.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01261C-CBEE-4558-9B84-ED97A8F7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09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50272-7B48-422B-BD01-D353FC0D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C7652"/>
                </a:solidFill>
                <a:latin typeface="Arial"/>
                <a:ea typeface="Arial"/>
                <a:cs typeface="Arial"/>
              </a:rPr>
              <a:t>MINI DISPLAYPORT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8D6E2-BC59-4FD9-A9B7-E5B6EAC1B3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08d8a3a0e427b"/>
          <a:stretch xmlns:a="http://schemas.openxmlformats.org/drawingml/2006/main"/>
        </p:blipFill>
        <p:spPr>
          <a:xfrm xmlns:a="http://schemas.openxmlformats.org/drawingml/2006/main">
            <a:off x="6419850" y="2291953"/>
            <a:ext cx="2476500" cy="1950244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0E17D-7204-467C-B306-D77B921E8E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d3fd1186a45f0"/>
          <a:stretch xmlns:a="http://schemas.openxmlformats.org/drawingml/2006/main"/>
        </p:blipFill>
        <p:spPr>
          <a:xfrm xmlns:a="http://schemas.openxmlformats.org/drawingml/2006/main">
            <a:off x="9086850" y="2443832"/>
            <a:ext cx="2476500" cy="1646486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37916-26EC-4DA4-BB2E-F7188658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75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Thunderbolt 1 and 2 use the same connector shape. Check the symbol.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21004-F721-452A-8084-85036CDC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7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BDCF6-2F9E-43D6-85C6-A98AB5B7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934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9156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9156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15634"/>
                </a:solidFill>
                <a:latin typeface="Arial"/>
                <a:ea typeface="Arial"/>
                <a:cs typeface="Arial"/>
              </a:rPr>
              <a:t>The cable plug and the device port must have the same shape.</a:t>
            </a:r>
          </a:p>
        </p:txBody>
      </p:sp>
    </p:spTree>
    <p:extLst>
      <p:ext uri="{BB962C8B-B14F-4D97-AF65-F5344CB8AC3E}">
        <p14:creationId xmlns:p14="http://schemas.microsoft.com/office/powerpoint/2010/main" val="9561485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8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97D21-7B55-48E0-9F37-7DC3F39B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7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8386B-5963-48B3-ACA4-C66E1A14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USB-C video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B02FA-61ED-421E-875B-813FC3E7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9415F"/>
                </a:solidFill>
                <a:latin typeface="Arial"/>
                <a:ea typeface="Arial"/>
                <a:cs typeface="Arial"/>
              </a:rPr>
              <a:t>USB-C describes the connector shape, not every capability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60D1D-B95B-47E8-8A2C-BC01A186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76802-0AC7-4DB5-8DAB-825655FB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C7652"/>
                </a:solidFill>
                <a:latin typeface="Arial"/>
                <a:ea typeface="Arial"/>
                <a:cs typeface="Arial"/>
              </a:rPr>
              <a:t>CABLE PLUG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6372C-AAC7-45A3-80AA-6ECC2FE7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95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3D5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D5F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5F87"/>
                </a:solidFill>
                <a:latin typeface="Arial"/>
                <a:ea typeface="Arial"/>
                <a:cs typeface="Arial"/>
              </a:rPr>
              <a:t>PORT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D12E3-1C34-447D-BE94-E43EAC1ABE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080ab32fa4c4b"/>
          <a:stretch xmlns:a="http://schemas.openxmlformats.org/drawingml/2006/main"/>
        </p:blipFill>
        <p:spPr>
          <a:xfrm xmlns:a="http://schemas.openxmlformats.org/drawingml/2006/main">
            <a:off x="1926661" y="2038350"/>
            <a:ext cx="2356977" cy="31432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C2A03-0976-45FD-B375-FA45DBD6C5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93c39f9df4c81"/>
          <a:stretch xmlns:a="http://schemas.openxmlformats.org/drawingml/2006/main"/>
        </p:blipFill>
        <p:spPr>
          <a:xfrm xmlns:a="http://schemas.openxmlformats.org/drawingml/2006/main">
            <a:off x="6991350" y="2038350"/>
            <a:ext cx="4191000" cy="3143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70EF8-4BB7-4B61-A8F8-4AAFD529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8859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5B6E2-384D-42C1-9F22-239AA5B9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7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781FC-F61D-47B3-87D7-C8D57039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934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923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923B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23B45"/>
                </a:solidFill>
                <a:latin typeface="Arial"/>
                <a:ea typeface="Arial"/>
                <a:cs typeface="Arial"/>
              </a:rPr>
              <a:t>Video works only when the computer port, cable, adapter, and monitor support the same video path.</a:t>
            </a:r>
          </a:p>
        </p:txBody>
      </p:sp>
    </p:spTree>
    <p:extLst>
      <p:ext uri="{BB962C8B-B14F-4D97-AF65-F5344CB8AC3E}">
        <p14:creationId xmlns:p14="http://schemas.microsoft.com/office/powerpoint/2010/main" val="21178384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BF3E3-8441-4A7A-9096-45CA928F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7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91978-A372-46C2-AED2-048988E2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USB-C cables are different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C10F7-CDE9-481B-90FD-4348B056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9415F"/>
                </a:solidFill>
                <a:latin typeface="Arial"/>
                <a:ea typeface="Arial"/>
                <a:cs typeface="Arial"/>
              </a:rPr>
              <a:t>Connector shape alone does not identify the cable's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1553B-3274-4B3A-9BF2-CF1ABAC7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E629C-E64B-48D8-A0A5-56EC1ABF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C7652"/>
                </a:solidFill>
                <a:latin typeface="Arial"/>
                <a:ea typeface="Arial"/>
                <a:cs typeface="Arial"/>
              </a:rPr>
              <a:t>USB-A TO USB-C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A22C3-12DB-4108-B176-2CE4C21890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bcf6bffb64f55"/>
          <a:stretch xmlns:a="http://schemas.openxmlformats.org/drawingml/2006/main"/>
        </p:blipFill>
        <p:spPr>
          <a:xfrm xmlns:a="http://schemas.openxmlformats.org/drawingml/2006/main">
            <a:off x="866775" y="2152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4471A-5170-4CC3-A31F-523C1963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025" b="1">
                <a:solidFill>
                  <a:srgbClr val="923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923B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23B45"/>
                </a:solidFill>
                <a:latin typeface="Arial"/>
                <a:ea typeface="Arial"/>
                <a:cs typeface="Arial"/>
              </a:rPr>
              <a:t>A passive A-to-C cable does not carry DisplayPort Alt Mode to a monitor.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641D7-9550-4706-AC9E-04DE9C19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09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C3312-F9DD-488B-BDBA-E4E37B31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3D5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D5F8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5F87"/>
                </a:solidFill>
                <a:latin typeface="Arial"/>
                <a:ea typeface="Arial"/>
                <a:cs typeface="Arial"/>
              </a:rPr>
              <a:t>USB-C TO USB-C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CD22E-210D-4142-BAAA-58BC6BC549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5a82170fc43d6"/>
          <a:stretch xmlns:a="http://schemas.openxmlformats.org/drawingml/2006/main"/>
        </p:blipFill>
        <p:spPr>
          <a:xfrm xmlns:a="http://schemas.openxmlformats.org/drawingml/2006/main">
            <a:off x="6419850" y="2362878"/>
            <a:ext cx="5143500" cy="2151293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388CB-412F-4531-9B3E-10B4B557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025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Check for explicit video support and the required data speed and charging power.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6F9AC-33FE-4125-8117-07F2CBB4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153150"/>
            <a:ext cx="967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9415F"/>
                </a:solidFill>
                <a:latin typeface="Arial"/>
                <a:ea typeface="Arial"/>
                <a:cs typeface="Arial"/>
              </a:rPr>
              <a:t>An active USB graphics dock contains electronics and works differently from a passive cable.</a:t>
            </a:r>
          </a:p>
        </p:txBody>
      </p:sp>
    </p:spTree>
    <p:extLst>
      <p:ext uri="{BB962C8B-B14F-4D97-AF65-F5344CB8AC3E}">
        <p14:creationId xmlns:p14="http://schemas.microsoft.com/office/powerpoint/2010/main" val="10739794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E8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3BCD6-693D-4905-8CCC-E409A17C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7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B23B3-B723-4FEA-9805-E14543B3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FireWire / IEEE 1394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15552-999F-4E3C-8CC9-529EAD22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9415F"/>
                </a:solidFill>
                <a:latin typeface="Arial"/>
                <a:ea typeface="Arial"/>
                <a:cs typeface="Arial"/>
              </a:rPr>
              <a:t>A legacy digital peripheral connection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654B2-CE3C-43CB-BFF4-11FCDCF2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35BBF-DE34-4670-A8DF-4B63E1EB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C7652"/>
                </a:solidFill>
                <a:latin typeface="Arial"/>
                <a:ea typeface="Arial"/>
                <a:cs typeface="Arial"/>
              </a:rPr>
              <a:t>CABLE PLUG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28FBD-76E7-45BC-BF01-47BEBCE1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95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3D5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D5F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5F87"/>
                </a:solidFill>
                <a:latin typeface="Arial"/>
                <a:ea typeface="Arial"/>
                <a:cs typeface="Arial"/>
              </a:rPr>
              <a:t>PORT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2F83B-2390-4549-8118-BFBA162BFE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b422d802a4082"/>
          <a:stretch xmlns:a="http://schemas.openxmlformats.org/drawingml/2006/main"/>
        </p:blipFill>
        <p:spPr>
          <a:xfrm xmlns:a="http://schemas.openxmlformats.org/drawingml/2006/main">
            <a:off x="749553" y="2038350"/>
            <a:ext cx="4711194" cy="31432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759A3-27FC-4714-A000-E835BB5B96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a793ae4604be0"/>
          <a:stretch xmlns:a="http://schemas.openxmlformats.org/drawingml/2006/main"/>
        </p:blipFill>
        <p:spPr>
          <a:xfrm xmlns:a="http://schemas.openxmlformats.org/drawingml/2006/main">
            <a:off x="6610350" y="2371725"/>
            <a:ext cx="4953000" cy="2476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F5C78-951C-4F3E-9BE3-4A0993E2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8859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A8819-5AC7-4B82-9624-5E829C28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7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D59BE-B8B7-4E64-8126-50DFF3C1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934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Used for cameras, audio interfaces, and external drives. It is not a normal monitor connection.</a:t>
            </a:r>
          </a:p>
        </p:txBody>
      </p:sp>
    </p:spTree>
    <p:extLst>
      <p:ext uri="{BB962C8B-B14F-4D97-AF65-F5344CB8AC3E}">
        <p14:creationId xmlns:p14="http://schemas.microsoft.com/office/powerpoint/2010/main" val="11192069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27426-0CAC-482D-B6CA-ED03DAB2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7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5E451-5DB5-4ACE-8317-4552B9B7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2040"/>
                </a:solidFill>
                <a:latin typeface="Arial"/>
                <a:ea typeface="Arial"/>
                <a:cs typeface="Arial"/>
              </a:rPr>
              <a:t>Connecting a monitor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E6FC1-6E8E-4CD2-A464-7BC9251B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941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9415F"/>
                </a:solidFill>
                <a:latin typeface="Arial"/>
                <a:ea typeface="Arial"/>
                <a:cs typeface="Arial"/>
              </a:rPr>
              <a:t>Use the matching output, cable, and monitor 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BF3C6-5A08-46EA-89DF-229273A6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D6EF8-D9D2-4E10-A509-52ADE1772A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f27ef4b124ef1"/>
          <a:srcRect xmlns:a="http://schemas.openxmlformats.org/drawingml/2006/main" l="29010" t="0" r="290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809750"/>
            <a:ext cx="495300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FD601-77EA-4B95-9D35-CE116DBE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65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38B12-635B-4144-B107-F936C2EC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288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2040"/>
                </a:solidFill>
                <a:latin typeface="Arial"/>
                <a:ea typeface="Arial"/>
                <a:cs typeface="Arial"/>
              </a:rPr>
              <a:t>Connect monitor power and turn it 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FD327-C218-4154-86D2-C3B19F52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65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E00FD-2E72-4954-8A15-10B84374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003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2040"/>
                </a:solidFill>
                <a:latin typeface="Arial"/>
                <a:ea typeface="Arial"/>
                <a:cs typeface="Arial"/>
              </a:rPr>
              <a:t>Connect a supported cable from computer output to monitor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6E27F-8D08-4F0E-B79F-5685DC4B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52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65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E749A-D13E-42B2-9CEB-D83175E6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719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B2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B20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2040"/>
                </a:solidFill>
                <a:latin typeface="Arial"/>
                <a:ea typeface="Arial"/>
                <a:cs typeface="Arial"/>
              </a:rPr>
              <a:t>Select that input on the monitor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550CF-DF86-4CF9-A2D3-812C3A8C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24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AC765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65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69A61-D6A2-4074-B6DD-5103131D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434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923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923B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23B45"/>
                </a:solidFill>
                <a:latin typeface="Arial"/>
                <a:ea typeface="Arial"/>
                <a:cs typeface="Arial"/>
              </a:rPr>
              <a:t>Check power, input, cable seating, adapter direction, and video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7E5CB-C3C9-4233-A0DD-BAF06278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E07EA-153B-4F99-82E4-FEABE4DE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250" b="1">
                <a:solidFill>
                  <a:srgbClr val="9156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91563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15634"/>
                </a:solidFill>
                <a:latin typeface="Arial"/>
                <a:ea typeface="Arial"/>
                <a:cs typeface="Arial"/>
              </a:rPr>
              <a:t>Never force a connector. Stop and compare the shapes.</a:t>
            </a:r>
          </a:p>
        </p:txBody>
      </p:sp>
    </p:spTree>
    <p:extLst>
      <p:ext uri="{BB962C8B-B14F-4D97-AF65-F5344CB8AC3E}">
        <p14:creationId xmlns:p14="http://schemas.microsoft.com/office/powerpoint/2010/main" val="4126920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2026-10-17T03:59:17.8680000Z</dcterms:created>
  <dcterms:modified xsi:type="dcterms:W3CDTF">2026-10-17T03:59:17.8680000Z</dcterms:modified>
</coreProperties>
</file>